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8D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CD-49FB-8A74-0E21D90DEA54}"/>
              </c:ext>
            </c:extLst>
          </c:dPt>
          <c:dPt>
            <c:idx val="1"/>
            <c:bubble3D val="0"/>
            <c:spPr>
              <a:solidFill>
                <a:srgbClr val="B423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CD-49FB-8A74-0E21D90DEA54}"/>
              </c:ext>
            </c:extLst>
          </c:dPt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Fraud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91.2</c:v>
                </c:pt>
                <c:pt idx="1">
                  <c:v>8.8000000000000007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CD-49FB-8A74-0E21D90DEA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4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1A1D2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D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3.3000000000000002E-2</c:v>
                </c:pt>
                <c:pt idx="1">
                  <c:v>0.49</c:v>
                </c:pt>
                <c:pt idx="2">
                  <c:v>0.91800000000000004</c:v>
                </c:pt>
                <c:pt idx="3">
                  <c:v>0.91900000000000004</c:v>
                </c:pt>
                <c:pt idx="4">
                  <c:v>0.95399999999999996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10-444C-ACEE-DF09B61C8D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CEEF1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099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15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AMDARI DATA SCIENCE  · 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86384" y="2697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-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Detection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to score cross-border transaction risk in real 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237744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Opeyemi Adegoke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&amp; the decision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NOVAPAY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digital-first, cross-border money transfer company (UK, Canada, US). Fraud defence today is </a:t>
            </a: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plus manual review</a:t>
            </a: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cannot scale or adapt as fraud evolves.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~8.8%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9748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512064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9748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miss new patterns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512064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9748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does not scale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THIS SUPPORTS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real-time ML risk score on top of the rules — and at what probability does each transaction get: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66560" y="30632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— let it through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402336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FFA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4023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— send to an analyst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498348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EF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4983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stop &amp; investigate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behind the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828800"/>
          <a:ext cx="3657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417320" y="2834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 cases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66344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11,400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66344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11,200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89788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132320" y="2240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63440" y="2834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WORK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315468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duplicates removed; 4 identifier columns dropped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fields imputed — amount_usd rebuilt from exchange rates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typos fixed (weeb→web, standrd→standard)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repaired; hour / weekend / night features added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5166360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5349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 (CORRELATION WITH FRAUD)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24h </a:t>
            </a: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     </a:t>
            </a: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1h </a:t>
            </a: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      </a:t>
            </a: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risk </a:t>
            </a: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     </a:t>
            </a: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risk </a:t>
            </a: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     </a:t>
            </a: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trust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−0.39      </a:t>
            </a: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EDA told 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fraud is ~8.8%. A handful of conditions push it far higher.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383280" cy="178308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3134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15568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trust &lt; 0.3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1688" y="2057400"/>
            <a:ext cx="3383280" cy="178308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6008" y="23134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54296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6008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transactions / hour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00416" y="2057400"/>
            <a:ext cx="3383280" cy="178308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74736" y="23134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93024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4736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$1k–$2k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069080"/>
            <a:ext cx="3383280" cy="178308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80" y="4325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115568" y="5001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5303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risk &gt; 0.8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61688" y="4069080"/>
            <a:ext cx="3383280" cy="178308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36008" y="4325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654296" y="5001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36008" y="5303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&lt; 90 days old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00416" y="4069080"/>
            <a:ext cx="3383280" cy="178308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74736" y="4325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193024" y="5001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74736" y="5303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CAD→INR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40864" y="1554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554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80/20 split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23944" y="1554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1554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07024" y="1554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models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90104" y="1554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01000" y="1554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for 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73184" y="155448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38360" y="155448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0" y="15544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(SHAP)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CLASSIFIERS COMPARED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class-weighted baseline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3931920"/>
            <a:ext cx="521208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400507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40050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ensemble, handles interactions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2960" y="4645152"/>
            <a:ext cx="521208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7183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47183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with scale_pos_weight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22960" y="5358384"/>
            <a:ext cx="521208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54315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54315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boosting, used for imbalance tests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55080" y="2971800"/>
            <a:ext cx="0" cy="301752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208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FIRST — AND AN HONEST METRIC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329184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8.8% fraud, approving everything still scores ~91% accuracy. We optimise for </a:t>
            </a:r>
            <a:r>
              <a:rPr lang="en-US" sz="13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judged on </a:t>
            </a:r>
            <a:r>
              <a:rPr lang="en-US" sz="13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ROC-AUC is too lenient when fraud is rare.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 </a:t>
            </a: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class-weights, undersampling and SMOTE all landed within noise (PR-AUC ≈ 0.835), so the simpler baseline was kept.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Fraud-class performance · held-out test set (2,240 transactions, 305 fraud)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5943600" cy="2468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822960" y="47548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Random Forest — best precision and F1 with strong recall. Logistic Regression catches marginally more fraud (0.95 recall) but its 0.76 precision floods analysts with false alarms.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780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CONFUSION MATRIX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237744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80960" y="2487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1,924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8096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legit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418320" y="237744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418320" y="2487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41832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80960" y="352044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80960" y="3630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680960" y="4142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fraud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418320" y="3520440"/>
            <a:ext cx="1645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418320" y="3630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418320" y="4142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fraud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78040" y="48463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on imbalanced fraud data — these are the fraud-class numbers that matter.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stability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5-fold CV looked stable. Testing chronologically — train on the past, predict the future — is more honest.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BY TIME PERIOD (OLDEST → NEWEST)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2423160"/>
          <a:ext cx="58521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2194560"/>
            <a:ext cx="0" cy="338328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4944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NEEDS TIME TO STABILISE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2514600"/>
            <a:ext cx="4434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time-forward testing, PR-AUC climbs from </a:t>
            </a:r>
            <a:r>
              <a:rPr lang="en-US" sz="13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 to 0.95</a:t>
            </a: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periods — average </a:t>
            </a: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 ± 0.36</a:t>
            </a: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far wobblier than random CV implied.</a:t>
            </a:r>
            <a:endParaRPr lang="en-US" sz="1350" dirty="0"/>
          </a:p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periods have too little fraud history to learn from.</a:t>
            </a:r>
            <a:endParaRPr lang="en-US" sz="13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monitoring and a human-review net, and retrain on a schedule — don't trust one strong snapshot.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with SHAP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carries a reason — how much each feature pushed a transaction toward or away from fraud.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GLOBAL DRIVERS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velocity (1h/24h)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0" y="2624328"/>
            <a:ext cx="2468880" cy="256032"/>
          </a:xfrm>
          <a:prstGeom prst="rect">
            <a:avLst/>
          </a:prstGeom>
          <a:solidFill>
            <a:srgbClr val="F7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2624328"/>
            <a:ext cx="2468880" cy="256032"/>
          </a:xfrm>
          <a:prstGeom prst="rect">
            <a:avLst/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risk score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0" y="3282696"/>
            <a:ext cx="2468880" cy="256032"/>
          </a:xfrm>
          <a:prstGeom prst="rect">
            <a:avLst/>
          </a:prstGeom>
          <a:solidFill>
            <a:srgbClr val="F7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3282696"/>
            <a:ext cx="1925726" cy="256032"/>
          </a:xfrm>
          <a:prstGeom prst="rect">
            <a:avLst/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831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risk score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0" y="3941064"/>
            <a:ext cx="2468880" cy="256032"/>
          </a:xfrm>
          <a:prstGeom prst="rect">
            <a:avLst/>
          </a:prstGeom>
          <a:solidFill>
            <a:srgbClr val="F7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0" y="3941064"/>
            <a:ext cx="1728216" cy="256032"/>
          </a:xfrm>
          <a:prstGeom prst="rect">
            <a:avLst/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489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trust score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0" y="4599432"/>
            <a:ext cx="2468880" cy="256032"/>
          </a:xfrm>
          <a:prstGeom prst="rect">
            <a:avLst/>
          </a:prstGeom>
          <a:solidFill>
            <a:srgbClr val="F7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0" y="4599432"/>
            <a:ext cx="1431950" cy="256032"/>
          </a:xfrm>
          <a:prstGeom prst="rect">
            <a:avLst/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5148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0" y="5257800"/>
            <a:ext cx="2468880" cy="256032"/>
          </a:xfrm>
          <a:prstGeom prst="rect">
            <a:avLst/>
          </a:prstGeom>
          <a:solidFill>
            <a:srgbClr val="F7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0" y="5257800"/>
            <a:ext cx="1135685" cy="256032"/>
          </a:xfrm>
          <a:prstGeom prst="rect">
            <a:avLst/>
          </a:prstGeom>
          <a:solidFill>
            <a:srgbClr val="1A1D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75120" y="2103120"/>
            <a:ext cx="4709160" cy="329184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0" y="2331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TXN_001 — flagged FRAUD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2697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94%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49440" y="3200400"/>
            <a:ext cx="54864" cy="502920"/>
          </a:xfrm>
          <a:prstGeom prst="rect">
            <a:avLst/>
          </a:prstGeom>
          <a:solidFill>
            <a:srgbClr val="B423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txn_velocity_1h = 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696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3858768"/>
            <a:ext cx="54864" cy="502920"/>
          </a:xfrm>
          <a:prstGeom prst="rect">
            <a:avLst/>
          </a:prstGeom>
          <a:solidFill>
            <a:srgbClr val="B423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3858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ip_risk_score = 0.95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66960" y="3858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49440" y="4517136"/>
            <a:ext cx="54864" cy="502920"/>
          </a:xfrm>
          <a:prstGeom prst="rect">
            <a:avLst/>
          </a:prstGeom>
          <a:solidFill>
            <a:srgbClr val="B423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32320" y="45171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account_age = 5 days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66960" y="45171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49440" y="5029200"/>
            <a:ext cx="420624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944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toward fraud — defensible for analysts and regulators (e.g. GDPR Art. 22).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5943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regulators require an explanation for automated decisions; analysts trust a flag they can see; and SHAP surfaces bias or data issues before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running in production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COSTS TO RUN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in Docker, small cloud instance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$80–150 / mo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578608"/>
            <a:ext cx="53949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drift checks + logging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67004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$30–60 / mo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328416"/>
            <a:ext cx="53949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refresh on new fraud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4198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$40–80 / mo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078224"/>
            <a:ext cx="53949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1696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  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on the review band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41696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~$150–300 / month — trivial next to a single missed fraud.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1600200"/>
            <a:ext cx="0" cy="402336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COST THE MODEL CONTROLS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fraud (FN) </a:t>
            </a: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transfer value + chargeback fees. The expensive error.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5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(FP) </a:t>
            </a: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review labour + a frustrated good customer. Cheaper.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3200400"/>
            <a:ext cx="4526280" cy="182880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86600" y="3383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set, Random Forest caught </a:t>
            </a: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of 305 frauds (91%) </a:t>
            </a: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just </a:t>
            </a:r>
            <a:r>
              <a:rPr lang="en-US" sz="12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false alarms (96% precision)</a:t>
            </a: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 ~$1,200 average fraud value that is roughly </a:t>
            </a:r>
            <a:r>
              <a:rPr lang="en-US" sz="125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$335k prevented</a:t>
            </a: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against a few hundred dollars of cost.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~$1,200 with mean amount_usd where is_fraud = 1.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655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Random Forest behind a tiered threshold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63040" y="203911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low scores, auto-block high scores, route the uncertain middle to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2468880"/>
            <a:ext cx="987552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6151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on the review band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63040" y="29992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triages; analysts decide edge cases — capping false-positive damage.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463040" y="3429000"/>
            <a:ext cx="987552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5753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SHAP with every flag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63040" y="39593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analysts and regulators the reason for each decision, not just a score.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463040" y="4389120"/>
            <a:ext cx="987552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480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45354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drift and retrain on a schedule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63040" y="49194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testing showed early instability — watch drift and recall, refresh before decay.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463040" y="5349240"/>
            <a:ext cx="987552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3040" y="549554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risk features before full automation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63040" y="58795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internal risk and chargeback history reflect data available at scoring time.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3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&amp;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424160" y="502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PREDICTION 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5120640" cy="3840480"/>
          </a:xfrm>
          <a:prstGeom prst="rect">
            <a:avLst/>
          </a:prstGeom>
          <a:solidFill>
            <a:srgbClr val="F7F8F9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NovaPay Fraud Scorer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2542032"/>
            <a:ext cx="466344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(USD)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2770632"/>
            <a:ext cx="2651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2112" y="27706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velocity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3319272"/>
            <a:ext cx="2651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82112" y="3319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risk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63240" y="3867912"/>
            <a:ext cx="2651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82112" y="3867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trust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4416552"/>
            <a:ext cx="2651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82112" y="44165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1560" y="5029200"/>
            <a:ext cx="4663440" cy="548640"/>
          </a:xfrm>
          <a:prstGeom prst="roundRect">
            <a:avLst>
              <a:gd name="adj" fmla="val 8333"/>
            </a:avLst>
          </a:prstGeom>
          <a:solidFill>
            <a:srgbClr val="FEF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34440" y="5029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 ·  probability 0.94  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+ IP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8745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or pick a transaction → instant probability and decision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 explanation for that exact transaction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confusion matrix, recall, precision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3520440"/>
            <a:ext cx="49377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TO PRODUCTION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0233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</a:t>
            </a: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loads the trained model directly; one file, free to host.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</a:t>
            </a: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served via FastAPI in Docker, with Evidently watching drift.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86384" y="1874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-4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catches more fraud — and explains itself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971800"/>
            <a:ext cx="10543032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recommended — 0.96 precision, 0.91 recall, 0.94 F1 on fraud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703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device trust, IP risk and account age drive the decisions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makes every flag explainable for analysts and regulators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testing flags early instability — monitor and retrain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cheap; prevented fraud losses dwarf the running cost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532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today; FastAPI + Docker + Evidently for production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6172200"/>
            <a:ext cx="237744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Opeyemi Adegoke   ·   github.com/Opeyemi-io   ·   Thank you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10553</TotalTime>
  <Words>1247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NovaPay Fraud Detection</dc:title>
  <dc:subject>PptxGenJS Presentation</dc:subject>
  <dc:creator>Opeyemi Adegoke</dc:creator>
  <cp:lastModifiedBy>Adegoke, Opeyemi</cp:lastModifiedBy>
  <cp:revision>3</cp:revision>
  <dcterms:created xsi:type="dcterms:W3CDTF">2026-06-09T17:29:22Z</dcterms:created>
  <dcterms:modified xsi:type="dcterms:W3CDTF">2026-06-17T22:40:36Z</dcterms:modified>
</cp:coreProperties>
</file>